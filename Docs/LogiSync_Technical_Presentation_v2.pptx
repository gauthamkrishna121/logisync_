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1F5F9"/>
                </a:solidFill>
                <a:latin typeface="Outfit"/>
              </a:defRPr>
            </a:pPr>
            <a:r>
              <a:t>LOGISYNC 🔄</a:t>
            </a:r>
          </a:p>
          <a:p>
            <a:pPr>
              <a:spcAft>
                <a:spcPts val="3500"/>
              </a:spcAft>
              <a:defRPr sz="2000">
                <a:solidFill>
                  <a:srgbClr val="14B8A6"/>
                </a:solidFill>
                <a:latin typeface="Inter"/>
              </a:defRPr>
            </a:pPr>
            <a:r>
              <a:t>Intelligent Internship Timesheet &amp; Task Management Portal</a:t>
            </a:r>
          </a:p>
          <a:p>
            <a:pPr>
              <a:spcAft>
                <a:spcPts val="600"/>
              </a:spcAft>
              <a:defRPr sz="1500" b="1">
                <a:solidFill>
                  <a:srgbClr val="F1F5F9"/>
                </a:solidFill>
                <a:latin typeface="Outfit"/>
              </a:defRPr>
            </a:pPr>
            <a:r>
              <a:t>Project Team Presentation</a:t>
            </a:r>
          </a:p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Presented by: Gautham Krishna &amp; Team</a:t>
            </a:r>
            <a:br/>
            <a:r>
              <a:t>Role: Systems Development &amp; Integration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Problem Statement: Why was LogiSync needed?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6366F1"/>
                </a:solidFill>
                <a:latin typeface="Outfit"/>
              </a:defRPr>
            </a:pPr>
            <a:r>
              <a:t>THE OPERATIONAL CHALLENGE</a:t>
            </a:r>
          </a:p>
          <a:p>
            <a:pPr>
              <a:spcAft>
                <a:spcPts val="1000"/>
              </a:spcAft>
              <a:defRPr sz="1200" b="1">
                <a:solidFill>
                  <a:srgbClr val="F1F5F9"/>
                </a:solidFill>
                <a:latin typeface="Outfit"/>
              </a:defRPr>
            </a:pPr>
            <a:r>
              <a:t>•  Manual Friction: </a:t>
            </a:r>
            <a:r>
              <a:rPr sz="1150">
                <a:solidFill>
                  <a:srgbClr val="94A3B8"/>
                </a:solidFill>
                <a:latin typeface="Inter"/>
              </a:rPr>
              <a:t>Students spend excessive hours compiling formatted Excel sheets, leading to layout mistakes and missing logs.</a:t>
            </a:r>
          </a:p>
          <a:p>
            <a:pPr>
              <a:spcAft>
                <a:spcPts val="1000"/>
              </a:spcAft>
              <a:defRPr sz="1200" b="1">
                <a:solidFill>
                  <a:srgbClr val="F1F5F9"/>
                </a:solidFill>
                <a:latin typeface="Outfit"/>
              </a:defRPr>
            </a:pPr>
            <a:r>
              <a:t>•  No Active Visibility: </a:t>
            </a:r>
            <a:r>
              <a:rPr sz="1150">
                <a:solidFill>
                  <a:srgbClr val="94A3B8"/>
                </a:solidFill>
                <a:latin typeface="Inter"/>
              </a:rPr>
              <a:t>Mentors lack real-time oversight of daily logs. They rely on manual file shares at the end of the week.</a:t>
            </a:r>
          </a:p>
          <a:p>
            <a:pPr>
              <a:spcAft>
                <a:spcPts val="1000"/>
              </a:spcAft>
              <a:defRPr sz="1200" b="1">
                <a:solidFill>
                  <a:srgbClr val="F1F5F9"/>
                </a:solidFill>
                <a:latin typeface="Outfit"/>
              </a:defRPr>
            </a:pPr>
            <a:r>
              <a:t>•  Reporting Fatigue: </a:t>
            </a:r>
            <a:r>
              <a:rPr sz="1150">
                <a:solidFill>
                  <a:srgbClr val="94A3B8"/>
                </a:solidFill>
                <a:latin typeface="Inter"/>
              </a:rPr>
              <a:t>Drafting structured, corporate-grade daily summaries for emails is tedious and inconsistent.</a:t>
            </a:r>
          </a:p>
          <a:p>
            <a:pPr>
              <a:spcAft>
                <a:spcPts val="1000"/>
              </a:spcAft>
              <a:defRPr sz="1200" b="1">
                <a:solidFill>
                  <a:srgbClr val="F1F5F9"/>
                </a:solidFill>
                <a:latin typeface="Outfit"/>
              </a:defRPr>
            </a:pPr>
            <a:r>
              <a:t>•  Task Disconnect: </a:t>
            </a:r>
            <a:r>
              <a:rPr sz="1150">
                <a:solidFill>
                  <a:srgbClr val="94A3B8"/>
                </a:solidFill>
                <a:latin typeface="Inter"/>
              </a:rPr>
              <a:t>Supervisors must use external chat tools or emails to assign tasks and collect files, leaving no central log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14B8A6"/>
                </a:solidFill>
                <a:latin typeface="Outfit"/>
              </a:defRPr>
            </a:pPr>
            <a:r>
              <a:t>WHO BENEFITS FROM LOGISYNC?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✔  Internship Students</a:t>
            </a:r>
            <a:br/>
            <a:r>
              <a:rPr sz="1150">
                <a:solidFill>
                  <a:srgbClr val="94A3B8"/>
                </a:solidFill>
                <a:latin typeface="Inter"/>
              </a:rPr>
              <a:t>Focus on core project work rather than time-consuming timesheet compiling, while getting AI help to write progress summaries.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✔  Mentors &amp; Supervisors</a:t>
            </a:r>
            <a:br/>
            <a:r>
              <a:rPr sz="1150">
                <a:solidFill>
                  <a:srgbClr val="94A3B8"/>
                </a:solidFill>
                <a:latin typeface="Inter"/>
              </a:rPr>
              <a:t>Gain instant, interactive dashboards to track student timesheets, review progress, and assign structured tasks.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✔  Program Coordinators</a:t>
            </a:r>
            <a:br/>
            <a:r>
              <a:rPr sz="1150">
                <a:solidFill>
                  <a:srgbClr val="94A3B8"/>
                </a:solidFill>
                <a:latin typeface="Inter"/>
              </a:rPr>
              <a:t>Access a unified, clean database structure with organized workspace directories to verify compliance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Solution Overview: Unified Automation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32004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900" b="1">
                <a:solidFill>
                  <a:srgbClr val="14B8A6"/>
                </a:solidFill>
                <a:latin typeface="Outfit"/>
              </a:defRPr>
            </a:pPr>
            <a:r>
              <a:t>RESPONSIVE CLIENT LAYER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Outfit"/>
              </a:defRPr>
            </a:pPr>
            <a:r>
              <a:t>GLASSMORPHIC INTERFACE</a:t>
            </a:r>
          </a:p>
          <a:p>
            <a:pPr>
              <a:lnSpc>
                <a:spcPct val="115000"/>
              </a:lnSpc>
              <a:defRPr sz="1200">
                <a:solidFill>
                  <a:srgbClr val="94A3B8"/>
                </a:solidFill>
                <a:latin typeface="Inter"/>
              </a:defRPr>
            </a:pPr>
            <a:r>
              <a:t>HTML5 &amp; CSS3 layout utilizing glassmorphism, dynamic calendar selectors, hourly work block grids, and asynchronous JS fetches.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080" y="3474720"/>
            <a:ext cx="27432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32004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900" b="1">
                <a:solidFill>
                  <a:srgbClr val="6366F1"/>
                </a:solidFill>
                <a:latin typeface="Outfit"/>
              </a:defRPr>
            </a:pPr>
            <a:r>
              <a:t>SECURE APPLICATION CORE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Outfit"/>
              </a:defRPr>
            </a:pPr>
            <a:r>
              <a:t>FLASK CONTROLLER GATEWAY</a:t>
            </a:r>
          </a:p>
          <a:p>
            <a:pPr>
              <a:lnSpc>
                <a:spcPct val="115000"/>
              </a:lnSpc>
              <a:defRPr sz="1200">
                <a:solidFill>
                  <a:srgbClr val="94A3B8"/>
                </a:solidFill>
                <a:latin typeface="Inter"/>
              </a:defRPr>
            </a:pPr>
            <a:r>
              <a:t>App router running in Python. Handles session validation, coordinates data transactions, blocks directory traversal, and connects helpers.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26680" y="3474720"/>
            <a:ext cx="27432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320040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900" b="1">
                <a:solidFill>
                  <a:srgbClr val="14B8A6"/>
                </a:solidFill>
                <a:latin typeface="Outfit"/>
              </a:defRPr>
            </a:pPr>
            <a:r>
              <a:t>EXCEL, AI &amp; MAIL INTEGRATES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Outfit"/>
              </a:defRPr>
            </a:pPr>
            <a:r>
              <a:t>AUTOMATION ENGINE VAULTS</a:t>
            </a:r>
          </a:p>
          <a:p>
            <a:pPr>
              <a:lnSpc>
                <a:spcPct val="115000"/>
              </a:lnSpc>
              <a:defRPr sz="1200">
                <a:solidFill>
                  <a:srgbClr val="94A3B8"/>
                </a:solidFill>
                <a:latin typeface="Inter"/>
              </a:defRPr>
            </a:pPr>
            <a:r>
              <a:t>Uses openpyxl for native Excel compiling, Google Gemini API for daily report summaries, and SMTP smtplib for automatic email deliveries.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3.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Technology Stack &amp; Architectural Rationales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14B8A6"/>
                </a:solidFill>
                <a:latin typeface="Outfit"/>
              </a:defRPr>
            </a:pPr>
            <a:r>
              <a:t>LIGHTWEIGHT SERVICE ROUTING</a:t>
            </a:r>
          </a:p>
          <a:p>
            <a:pPr>
              <a:spcAft>
                <a:spcPts val="600"/>
              </a:spcAft>
              <a:defRPr sz="1500" b="1">
                <a:solidFill>
                  <a:srgbClr val="F1F5F9"/>
                </a:solidFill>
                <a:latin typeface="Outfit"/>
              </a:defRPr>
            </a:pPr>
            <a:r>
              <a:t>Python &amp; Flask Framework</a:t>
            </a:r>
          </a:p>
          <a:p>
            <a:pPr>
              <a:lnSpc>
                <a:spcPct val="11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Chosen for its lightweight footprint and rapid microservice routing capabilities. Flask provides low-overhead JSON API endpoints and Jinja2 templating, keeping deployment simple and memory footprint minimal.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6366F1"/>
                </a:solidFill>
                <a:latin typeface="Outfit"/>
              </a:defRPr>
            </a:pPr>
            <a:r>
              <a:t>SERVERLESS RELATIONAL STORAGE</a:t>
            </a:r>
          </a:p>
          <a:p>
            <a:pPr>
              <a:spcAft>
                <a:spcPts val="600"/>
              </a:spcAft>
              <a:defRPr sz="1500" b="1">
                <a:solidFill>
                  <a:srgbClr val="F1F5F9"/>
                </a:solidFill>
                <a:latin typeface="Outfit"/>
              </a:defRPr>
            </a:pPr>
            <a:r>
              <a:t>SQLite Database Engine</a:t>
            </a:r>
          </a:p>
          <a:p>
            <a:pPr>
              <a:lnSpc>
                <a:spcPct val="11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Provides transactional SQL relational storage without requiring an external database server. Avoids network latency and configuration overhead, ideal for self-contained local workspace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6366F1"/>
                </a:solidFill>
                <a:latin typeface="Outfit"/>
              </a:defRPr>
            </a:pPr>
            <a:r>
              <a:t>LOW-OVERHEAD SPREADSHEET GENERATION</a:t>
            </a:r>
          </a:p>
          <a:p>
            <a:pPr>
              <a:spcAft>
                <a:spcPts val="600"/>
              </a:spcAft>
              <a:defRPr sz="1500" b="1">
                <a:solidFill>
                  <a:srgbClr val="F1F5F9"/>
                </a:solidFill>
                <a:latin typeface="Outfit"/>
              </a:defRPr>
            </a:pPr>
            <a:r>
              <a:t>Openpyxl Spreadsheet Engine</a:t>
            </a:r>
          </a:p>
          <a:p>
            <a:pPr>
              <a:lnSpc>
                <a:spcPct val="11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Chosen because it reads and writes native XLSX files directly in Python. Eliminates the need to run Excel in the background (COM/OLE automation), ensuring platform independence and high-performance compilations.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14B8A6"/>
                </a:solidFill>
                <a:latin typeface="Outfit"/>
              </a:defRPr>
            </a:pPr>
            <a:r>
              <a:t>CONTEXTUAL SUMMARIZATION SYSTEM</a:t>
            </a:r>
          </a:p>
          <a:p>
            <a:pPr>
              <a:spcAft>
                <a:spcPts val="600"/>
              </a:spcAft>
              <a:defRPr sz="1500" b="1">
                <a:solidFill>
                  <a:srgbClr val="F1F5F9"/>
                </a:solidFill>
                <a:latin typeface="Outfit"/>
              </a:defRPr>
            </a:pPr>
            <a:r>
              <a:t>Google Gemini AI API</a:t>
            </a:r>
          </a:p>
          <a:p>
            <a:pPr>
              <a:lnSpc>
                <a:spcPct val="11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Chosen for state-of-the-art natural language processing. Transforms short, informal bullet logs into sophisticated, coherent corporate summaries without requiring heavy local machine learning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4. 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Implementation: Database Schema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14B8A6"/>
                </a:solidFill>
                <a:latin typeface="Outfit"/>
              </a:defRPr>
            </a:pPr>
            <a:r>
              <a:t>1. THE 'USERS' TABLE SCHEMA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username  </a:t>
            </a:r>
            <a:r>
              <a:rPr>
                <a:solidFill>
                  <a:srgbClr val="14B8A6"/>
                </a:solidFill>
              </a:rPr>
              <a:t>[TEXT (Primary Key)] : </a:t>
            </a:r>
            <a:r>
              <a:rPr sz="1100">
                <a:solidFill>
                  <a:srgbClr val="94A3B8"/>
                </a:solidFill>
                <a:latin typeface="Inter"/>
              </a:rPr>
              <a:t>Cleaned, lowercased unique identifier for authentication.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full_name  </a:t>
            </a:r>
            <a:r>
              <a:rPr>
                <a:solidFill>
                  <a:srgbClr val="14B8A6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Display name used in dashboard titles and Excel logs.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email  </a:t>
            </a:r>
            <a:r>
              <a:rPr>
                <a:solidFill>
                  <a:srgbClr val="14B8A6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Optional email address for profile notifications.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mentor_email  </a:t>
            </a:r>
            <a:r>
              <a:rPr>
                <a:solidFill>
                  <a:srgbClr val="14B8A6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References assigned mentor's email; defines auth mapping.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password_hash  </a:t>
            </a:r>
            <a:r>
              <a:rPr>
                <a:solidFill>
                  <a:srgbClr val="14B8A6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Secured credentials hashed using bcrypt-compatible pbkdf2.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role  </a:t>
            </a:r>
            <a:r>
              <a:rPr>
                <a:solidFill>
                  <a:srgbClr val="14B8A6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Defines access control level ('student', 'mentor', 'admin').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2. THE 'STUDENT_TASKS' TABLE SCHEMA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id  </a:t>
            </a:r>
            <a:r>
              <a:rPr>
                <a:solidFill>
                  <a:srgbClr val="6366F1"/>
                </a:solidFill>
              </a:rPr>
              <a:t>[INTEGER (Primary Key)] : </a:t>
            </a:r>
            <a:r>
              <a:rPr sz="1100">
                <a:solidFill>
                  <a:srgbClr val="94A3B8"/>
                </a:solidFill>
                <a:latin typeface="Inter"/>
              </a:rPr>
              <a:t>Auto-incremented primary task transaction ID.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student_username  </a:t>
            </a:r>
            <a:r>
              <a:rPr>
                <a:solidFill>
                  <a:srgbClr val="6366F1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Foreign Key mapping to the target student user.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mentor_username  </a:t>
            </a:r>
            <a:r>
              <a:rPr>
                <a:solidFill>
                  <a:srgbClr val="6366F1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Foreign Key mapping to the assigning mentor user.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task_description  </a:t>
            </a:r>
            <a:r>
              <a:rPr>
                <a:solidFill>
                  <a:srgbClr val="6366F1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The requirements description written by the mentor.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status  </a:t>
            </a:r>
            <a:r>
              <a:rPr>
                <a:solidFill>
                  <a:srgbClr val="6366F1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Progress tracking state ('pending' or 'completed').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response_message  </a:t>
            </a:r>
            <a:r>
              <a:rPr>
                <a:solidFill>
                  <a:srgbClr val="6366F1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Optional text answer submitted by the student.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•  attachment_path  </a:t>
            </a:r>
            <a:r>
              <a:rPr>
                <a:solidFill>
                  <a:srgbClr val="6366F1"/>
                </a:solidFill>
              </a:rPr>
              <a:t>[TEXT] : </a:t>
            </a:r>
            <a:r>
              <a:rPr sz="1100">
                <a:solidFill>
                  <a:srgbClr val="94A3B8"/>
                </a:solidFill>
                <a:latin typeface="Inter"/>
              </a:rPr>
              <a:t>Path to the uploaded deliverable file in task vaults.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4. 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Implementation: REST APIs &amp; Modular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MODULAR BACKEND SERVICES (`modules/`)</a:t>
            </a:r>
          </a:p>
          <a:p>
            <a:pPr>
              <a:spcAft>
                <a:spcPts val="10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user_manager.py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Encapsulates database connection pools, password hashing, and role-based student-mentor matching logic.</a:t>
            </a:r>
          </a:p>
          <a:p>
            <a:pPr>
              <a:spcAft>
                <a:spcPts val="10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excel_manager.py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Handles spreadsheet interactions. Builds sheets, applies cell styles, draws headers, and tracks work blocks.</a:t>
            </a:r>
          </a:p>
          <a:p>
            <a:pPr>
              <a:spcAft>
                <a:spcPts val="10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ai_service.py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Interfaces with Google Generative AI (Gemini). Handles prompt design to refine casual bullet entries into formal text.</a:t>
            </a:r>
          </a:p>
          <a:p>
            <a:pPr>
              <a:spcAft>
                <a:spcPts val="10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mail_service.py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SMTP client manager. Connects securely, compiles MIME structures, and sends daily reports to mentors.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14B8A6"/>
                </a:solidFill>
                <a:latin typeface="Outfit"/>
              </a:defRPr>
            </a:pPr>
            <a:r>
              <a:t>CORE API CONTROLLERS (`app.py`)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POST /api/login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Authenticates credentials and sets session roles.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POST /api/load-timesheet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Loads slots and initializes logs inside `excel_templates/`.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POST /api/save-slot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Updates cell records and activity strings for work blocks.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POST /api/generate-summary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Passes raw logs to Gemini API to return polished summaries.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GET /api/student-files/&lt;username&gt;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Secures directory listing boundary for admin/mentor portals.</a:t>
            </a:r>
          </a:p>
          <a:p>
            <a:pPr>
              <a:spcAft>
                <a:spcPts val="800"/>
              </a:spcAft>
              <a:defRPr sz="1150" b="1">
                <a:solidFill>
                  <a:srgbClr val="F1F5F9"/>
                </a:solidFill>
                <a:latin typeface="Consolas"/>
              </a:defRPr>
            </a:pPr>
            <a:r>
              <a:t>GET /api/student-files/&lt;username&gt;/download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Transmits deliverable files securely to authorized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4. 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Implementation: Security Safeguards &amp; Error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14B8A6"/>
                </a:solidFill>
                <a:latin typeface="Outfit"/>
              </a:defRPr>
            </a:pPr>
            <a:r>
              <a:t>SECURITY ARCHITECTURE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🛡️  Role-Based Decorators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Custom `@login_required`, `@admin_required`, and `@mentor_required` Python decorators intercept routes, validating session cookies and preventing authorization bypasses.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🛡️  Path Traversal Guard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Uses `sanitize_subpath()` to purge relative dots (`..`) and checks that resolved absolute paths begin strictly inside the target student's isolated workspace directory root.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🛡️  Strict Supervisor Boundaries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The `is_authorized_for_student()` helper limits mentors to viewing *only* their assigned students' directories. Directory lookups return a 403 Forbidden on boundary violations.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ERROR HANDLING &amp; TRANSACTION SAFETY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Exception Cascading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Try-except blocks surround file operations and network fetches (SMTP/Gemini). Failures cascade back as standard JSON error payloads, preventing backend crashes.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Excel Access Safety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Spreadsheet reads/writes are wrapped in resource locks. Workbook handles are safely closed on errors, preventing file lockouts or data corruption.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⚙️  Dynamic Directory Creation</a:t>
            </a:r>
            <a:br/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User documents and task upload directories are initialized on-demand using `os.makedirs(..., exist_ok=True)`, avoiding broken path exceptions.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5.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Demonstration: Live Application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14203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LIVE SCENARIOS &amp; SYSTEM ACTIONS</a:t>
            </a:r>
          </a:p>
          <a:p>
            <a:pPr>
              <a:spcAft>
                <a:spcPts val="14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▶  Student Onboarding ➔ 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Student registers. The backend initializes their database profile, assigns their password hash, and instantly prepares their workspace directory (`excel_templates/&lt;username&gt;/`).</a:t>
            </a:r>
          </a:p>
          <a:p>
            <a:pPr>
              <a:spcAft>
                <a:spcPts val="14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▶  Active Logsheet Updates ➔ 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Student updates the grid. Asynchronous JS saves activity texts to specific cells in their Excel timesheet, updating the sheet on-demand.</a:t>
            </a:r>
          </a:p>
          <a:p>
            <a:pPr>
              <a:spcAft>
                <a:spcPts val="14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▶  AI Summary &amp; Email Delivery ➔ 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Gemini AI reads timesheet rows to compile a corporate-ready daily progress status report, which is then emailed to their mentor via secure SMTP.</a:t>
            </a:r>
          </a:p>
          <a:p>
            <a:pPr>
              <a:spcAft>
                <a:spcPts val="1400"/>
              </a:spcAft>
              <a:defRPr sz="1300" b="1">
                <a:solidFill>
                  <a:srgbClr val="F1F5F9"/>
                </a:solidFill>
                <a:latin typeface="Outfit"/>
              </a:defRPr>
            </a:pPr>
            <a:r>
              <a:t>▶  Mentor Task Coordinator &amp; Explorer ➔ 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Mentor assigns a task. The student submits deliverables via upload, and the mentor inspects/downloads them directly through the UI folder explorer.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6.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Development Challenges &amp; Engineering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2801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6366F1"/>
                </a:solidFill>
                <a:latin typeface="Outfit"/>
              </a:defRPr>
            </a:pPr>
            <a:r>
              <a:t>CHALLENGE 01: DATABASE MERGE CONFLICTS</a:t>
            </a:r>
          </a:p>
          <a:p>
            <a:pPr>
              <a:defRPr sz="1150" b="1">
                <a:solidFill>
                  <a:srgbClr val="F1F5F9"/>
                </a:solidFill>
                <a:latin typeface="Inter"/>
              </a:defRPr>
            </a:pPr>
            <a:r>
              <a:t>Problem: Binary database files (`users.db`) conflicted frequently when multiple branches updated records locally.  | 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Engineering Solution: Purged local databases from Git index tracking cache via `git rm --cached` and updated `.gitignore` rules to isolate local state completely.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5912" cy="12801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14B8A6"/>
                </a:solidFill>
                <a:latin typeface="Outfit"/>
              </a:defRPr>
            </a:pPr>
            <a:r>
              <a:t>CHALLENGE 02: DIRECTORY TRAVERSAL VULNERABILITIES</a:t>
            </a:r>
          </a:p>
          <a:p>
            <a:pPr>
              <a:defRPr sz="1150" b="1">
                <a:solidFill>
                  <a:srgbClr val="F1F5F9"/>
                </a:solidFill>
                <a:latin typeface="Inter"/>
              </a:defRPr>
            </a:pPr>
            <a:r>
              <a:t>Problem: Allowing mentors/admins to view student files introduced risks of relative path bypasses (`../`).  | 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Engineering Solution: Implemented strict path sanitization that removes double-dot symbols, resolves absolute paths, and validates that targets start with the student's isolated document root directory.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5912" cy="128016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6366F1"/>
                </a:solidFill>
                <a:latin typeface="Outfit"/>
              </a:defRPr>
            </a:pPr>
            <a:r>
              <a:t>CHALLENGE 03: LOOSELY STRUCTURED AI PROMPTS</a:t>
            </a:r>
          </a:p>
          <a:p>
            <a:pPr>
              <a:defRPr sz="1150" b="1">
                <a:solidFill>
                  <a:srgbClr val="F1F5F9"/>
                </a:solidFill>
                <a:latin typeface="Inter"/>
              </a:defRPr>
            </a:pPr>
            <a:r>
              <a:t>Problem: Gemini API occasionally generated overly wordy or poorly formatted reports from short timesheet logs.  | 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Engineering Solution: Designed a contextual system prompt template that forces Gemini to output concise, professional corporate summaries formatted in clean markdown bullet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Outfit"/>
              </a:defRPr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Outfit"/>
              </a:defRPr>
            </a:pPr>
            <a:r>
              <a:t>Conclusion &amp; Future Architectural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14B8A6"/>
                </a:solidFill>
                <a:latin typeface="Outfit"/>
              </a:defRPr>
            </a:pPr>
            <a:r>
              <a:t>KEY ACHIEVEMENTS</a:t>
            </a:r>
          </a:p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  <a:latin typeface="Inter"/>
              </a:defRPr>
            </a:pPr>
            <a:r>
              <a:t>🎯  Eliminated manual Excel errors by automating sheet formatting natively using python-pptx / openpyxl.</a:t>
            </a:r>
          </a:p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  <a:latin typeface="Inter"/>
              </a:defRPr>
            </a:pPr>
            <a:r>
              <a:t>🎯  Created an AI pipeline using Google Gemini API to translate daily logs into polished summaries instantly.</a:t>
            </a:r>
          </a:p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  <a:latin typeface="Inter"/>
              </a:defRPr>
            </a:pPr>
            <a:r>
              <a:t>🎯  Integrated direct task deliverables and secure file uploading vaults to unify collaboration.</a:t>
            </a:r>
          </a:p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  <a:latin typeface="Inter"/>
              </a:defRPr>
            </a:pPr>
            <a:r>
              <a:t>🎯  Established absolute security boundaries with directory traversal sanitization and role-based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6366F1"/>
                </a:solidFill>
                <a:latin typeface="Outfit"/>
              </a:defRPr>
            </a:pPr>
            <a:r>
              <a:t>FUTURE IMPROVEMENTS</a:t>
            </a:r>
          </a:p>
          <a:p>
            <a:pPr>
              <a:spcAft>
                <a:spcPts val="1200"/>
              </a:spcAft>
              <a:defRPr sz="1250" b="1">
                <a:solidFill>
                  <a:srgbClr val="F1F5F9"/>
                </a:solidFill>
                <a:latin typeface="Outfit"/>
              </a:defRPr>
            </a:pPr>
            <a:r>
              <a:t>🚀  Direct Teams Integration: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Upgrade from manual file sharing to direct API sync with Microsoft Teams channels and log sheets.</a:t>
            </a:r>
          </a:p>
          <a:p>
            <a:pPr>
              <a:spcAft>
                <a:spcPts val="1200"/>
              </a:spcAft>
              <a:defRPr sz="1250" b="1">
                <a:solidFill>
                  <a:srgbClr val="F1F5F9"/>
                </a:solidFill>
                <a:latin typeface="Outfit"/>
              </a:defRPr>
            </a:pPr>
            <a:r>
              <a:t>🚀  Multi-Cohort Administration: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Support grouping students into separate project cohorts and teams with group-specific administrators.</a:t>
            </a:r>
          </a:p>
          <a:p>
            <a:pPr>
              <a:spcAft>
                <a:spcPts val="1200"/>
              </a:spcAft>
              <a:defRPr sz="1250" b="1">
                <a:solidFill>
                  <a:srgbClr val="F1F5F9"/>
                </a:solidFill>
                <a:latin typeface="Outfit"/>
              </a:defRPr>
            </a:pPr>
            <a:r>
              <a:t>🚀  Advanced Progress Metrics: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Generate visual graphs and metrics indicating student task completion speed and active time allocations.</a:t>
            </a:r>
          </a:p>
          <a:p>
            <a:pPr>
              <a:spcAft>
                <a:spcPts val="1200"/>
              </a:spcAft>
              <a:defRPr sz="1250" b="1">
                <a:solidFill>
                  <a:srgbClr val="F1F5F9"/>
                </a:solidFill>
                <a:latin typeface="Outfit"/>
              </a:defRPr>
            </a:pPr>
            <a:r>
              <a:t>🚀  Real-Time Notifications: </a:t>
            </a:r>
          </a:p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Implement WebSockets to alert students when tasks are assigned and mentors when deliverables are uploaded.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